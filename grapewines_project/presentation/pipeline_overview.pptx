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How the data were processed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570"/>
                </a:solidFill>
                <a:latin typeface="Calibri"/>
              </a:rPr>
              <a:t>412 Caucasian grapevine accessions  ·  814,885 biallelic SNPs  ·  19 chromosomes  ·  8 metadata traits per accession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70432"/>
            <a:ext cx="3474720" cy="969264"/>
          </a:xfrm>
          <a:prstGeom prst="roundRect">
            <a:avLst>
              <a:gd name="adj" fmla="val 10000"/>
            </a:avLst>
          </a:prstGeom>
          <a:solidFill>
            <a:srgbClr val="F2F3F4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1 · Raw variant calls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cauca_grape.subset.vcf.gz, 412 accessions, plus the curated metadata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70432"/>
            <a:ext cx="3474720" cy="969264"/>
          </a:xfrm>
          <a:prstGeom prst="roundRect">
            <a:avLst>
              <a:gd name="adj" fmla="val 10000"/>
            </a:avLst>
          </a:prstGeom>
          <a:solidFill>
            <a:srgbClr val="F2F3F4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2 · SNP filtering — vcftools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PASS only · biallelic · call rate ≥ 0.6 · MAF ≥ 0.005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9352" y="1655064"/>
            <a:ext cx="374904" cy="0"/>
          </a:xfrm>
          <a:prstGeom prst="line">
            <a:avLst/>
          </a:prstGeom>
          <a:ln w="22225">
            <a:solidFill>
              <a:srgbClr val="9EAD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366760" y="1170432"/>
            <a:ext cx="3474720" cy="969264"/>
          </a:xfrm>
          <a:prstGeom prst="roundRect">
            <a:avLst>
              <a:gd name="adj" fmla="val 10000"/>
            </a:avLst>
          </a:prstGeom>
          <a:solidFill>
            <a:srgbClr val="F2F3F4"/>
          </a:solidFill>
          <a:ln w="19050">
            <a:solidFill>
              <a:srgbClr val="455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3 · PLINK conversion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--make-bed --chr-set 19  →  814,885 SNPs × 412 samples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36992" y="1655064"/>
            <a:ext cx="374904" cy="0"/>
          </a:xfrm>
          <a:prstGeom prst="line">
            <a:avLst/>
          </a:prstGeom>
          <a:ln w="22225">
            <a:solidFill>
              <a:srgbClr val="9EAD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04120" y="2139696"/>
            <a:ext cx="0" cy="256032"/>
          </a:xfrm>
          <a:prstGeom prst="line">
            <a:avLst/>
          </a:prstGeom>
          <a:ln w="22225">
            <a:solidFill>
              <a:srgbClr val="9EAD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48840" y="2395728"/>
            <a:ext cx="7955280" cy="0"/>
          </a:xfrm>
          <a:prstGeom prst="line">
            <a:avLst/>
          </a:prstGeom>
          <a:ln w="22225">
            <a:solidFill>
              <a:srgbClr val="9EAD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48840" y="2395728"/>
            <a:ext cx="0" cy="219456"/>
          </a:xfrm>
          <a:prstGeom prst="line">
            <a:avLst/>
          </a:prstGeom>
          <a:ln w="22225">
            <a:solidFill>
              <a:srgbClr val="9EAD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26479" y="2395728"/>
            <a:ext cx="0" cy="219456"/>
          </a:xfrm>
          <a:prstGeom prst="line">
            <a:avLst/>
          </a:prstGeom>
          <a:ln w="22225">
            <a:solidFill>
              <a:srgbClr val="9EAD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04120" y="2395728"/>
            <a:ext cx="0" cy="219456"/>
          </a:xfrm>
          <a:prstGeom prst="line">
            <a:avLst/>
          </a:prstGeom>
          <a:ln w="22225">
            <a:solidFill>
              <a:srgbClr val="9EAD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" y="2651760"/>
            <a:ext cx="3474720" cy="274320"/>
          </a:xfrm>
          <a:prstGeom prst="roundRect">
            <a:avLst>
              <a:gd name="adj" fmla="val 28000"/>
            </a:avLst>
          </a:prstGeom>
          <a:solidFill>
            <a:srgbClr val="00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ANCESTRY  →  DIFFERENTIATION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035808"/>
            <a:ext cx="3474720" cy="1005840"/>
          </a:xfrm>
          <a:prstGeom prst="roundRect">
            <a:avLst>
              <a:gd name="adj" fmla="val 10000"/>
            </a:avLst>
          </a:prstGeom>
          <a:solidFill>
            <a:srgbClr val="EDF4F8"/>
          </a:solidFill>
          <a:ln w="19050">
            <a:solidFill>
              <a:srgbClr val="006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ADMIXTURE, K = 2 … 10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5-fold CV curve; K = 7 carried forward. 160 of 412 samples assigned at Q ≥ 0.75, 252 admixed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261104"/>
            <a:ext cx="3474720" cy="1005840"/>
          </a:xfrm>
          <a:prstGeom prst="roundRect">
            <a:avLst>
              <a:gd name="adj" fmla="val 10000"/>
            </a:avLst>
          </a:prstGeom>
          <a:solidFill>
            <a:srgbClr val="EDF4F8"/>
          </a:solidFill>
          <a:ln w="19050">
            <a:solidFill>
              <a:srgbClr val="006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Pairwise F</a:t>
            </a:r>
            <a:r>
              <a:rPr sz="1350" b="1" baseline="-25000">
                <a:solidFill>
                  <a:srgbClr val="1F2933"/>
                </a:solidFill>
                <a:latin typeface="Calibri"/>
              </a:rPr>
              <a:t>ST</a:t>
            </a:r>
            <a:r>
              <a:rPr sz="1350" b="1">
                <a:solidFill>
                  <a:srgbClr val="1F2933"/>
                </a:solidFill>
                <a:latin typeface="Calibri"/>
              </a:rPr>
              <a:t> — vcftools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all 21 group pairs, per SNP; plain and weighted averages → heatmap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48840" y="4059935"/>
            <a:ext cx="0" cy="164593"/>
          </a:xfrm>
          <a:prstGeom prst="line">
            <a:avLst/>
          </a:prstGeom>
          <a:ln w="22225">
            <a:solidFill>
              <a:srgbClr val="9EAD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5486400"/>
            <a:ext cx="3474720" cy="1005840"/>
          </a:xfrm>
          <a:prstGeom prst="roundRect">
            <a:avLst>
              <a:gd name="adj" fmla="val 10000"/>
            </a:avLst>
          </a:prstGeom>
          <a:solidFill>
            <a:srgbClr val="EDF4F8"/>
          </a:solidFill>
          <a:ln w="19050">
            <a:solidFill>
              <a:srgbClr val="006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Selection scan → genes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50 kb windows (≥ 20 SNPs) · top 1% merged · genes from PN40024.v4.1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48840" y="5285231"/>
            <a:ext cx="0" cy="164593"/>
          </a:xfrm>
          <a:prstGeom prst="line">
            <a:avLst/>
          </a:prstGeom>
          <a:ln w="22225">
            <a:solidFill>
              <a:srgbClr val="9EAD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89120" y="2651760"/>
            <a:ext cx="3474720" cy="274320"/>
          </a:xfrm>
          <a:prstGeom prst="roundRect">
            <a:avLst>
              <a:gd name="adj" fmla="val 28000"/>
            </a:avLst>
          </a:prstGeom>
          <a:solidFill>
            <a:srgbClr val="AE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ORDINATION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35808"/>
            <a:ext cx="3474720" cy="1005840"/>
          </a:xfrm>
          <a:prstGeom prst="roundRect">
            <a:avLst>
              <a:gd name="adj" fmla="val 10000"/>
            </a:avLst>
          </a:prstGeom>
          <a:solidFill>
            <a:srgbClr val="F9EDF1"/>
          </a:solidFill>
          <a:ln w="19050">
            <a:solidFill>
              <a:srgbClr val="AE00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PCA — plink --pca 20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PC1 16.9%, PC2 9.7%, PC3 8.0% of the variance; scatter coloured by each trait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261104"/>
            <a:ext cx="3474720" cy="1005840"/>
          </a:xfrm>
          <a:prstGeom prst="roundRect">
            <a:avLst>
              <a:gd name="adj" fmla="val 10000"/>
            </a:avLst>
          </a:prstGeom>
          <a:solidFill>
            <a:srgbClr val="F9EDF1"/>
          </a:solidFill>
          <a:ln w="19050">
            <a:solidFill>
              <a:srgbClr val="AE00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PC × metadata association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one-way ANOVA per PC × trait; adjusted R², Benjamini–Hochberg FDR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79" y="4059935"/>
            <a:ext cx="0" cy="164593"/>
          </a:xfrm>
          <a:prstGeom prst="line">
            <a:avLst/>
          </a:prstGeom>
          <a:ln w="22225">
            <a:solidFill>
              <a:srgbClr val="9EAD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66760" y="2651760"/>
            <a:ext cx="3474720" cy="274320"/>
          </a:xfrm>
          <a:prstGeom prst="roundRect">
            <a:avLst>
              <a:gd name="adj" fmla="val 28000"/>
            </a:avLst>
          </a:prstGeom>
          <a:solidFill>
            <a:srgbClr val="06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PHYLOGENY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035808"/>
            <a:ext cx="3474720" cy="1005840"/>
          </a:xfrm>
          <a:prstGeom prst="roundRect">
            <a:avLst>
              <a:gd name="adj" fmla="val 10000"/>
            </a:avLst>
          </a:prstGeom>
          <a:solidFill>
            <a:srgbClr val="EEF2F0"/>
          </a:solidFill>
          <a:ln w="19050">
            <a:solidFill>
              <a:srgbClr val="064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ML tree — SNPhylo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MAF 0.10, LD 0.10 → 12,848 sites; rooted on ZZ01 (</a:t>
            </a:r>
            <a:r>
              <a:rPr sz="1050" b="0" i="1">
                <a:solidFill>
                  <a:srgbClr val="5A6570"/>
                </a:solidFill>
                <a:latin typeface="Calibri"/>
              </a:rPr>
              <a:t>V. rotundifolia</a:t>
            </a:r>
            <a:r>
              <a:rPr sz="1050" b="0">
                <a:solidFill>
                  <a:srgbClr val="5A6570"/>
                </a:solidFill>
                <a:latin typeface="Calibri"/>
              </a:rPr>
              <a:t>); 100 bootstraps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4261104"/>
            <a:ext cx="3474720" cy="1005840"/>
          </a:xfrm>
          <a:prstGeom prst="roundRect">
            <a:avLst>
              <a:gd name="adj" fmla="val 10000"/>
            </a:avLst>
          </a:prstGeom>
          <a:solidFill>
            <a:srgbClr val="EEF2F0"/>
          </a:solidFill>
          <a:ln w="19050">
            <a:solidFill>
              <a:srgbClr val="064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NJ tree — sensitivity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1 − IBS distances, LD r² &lt; 0.2, midpoint rooted, 100 bootstraps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104120" y="4059935"/>
            <a:ext cx="0" cy="164593"/>
          </a:xfrm>
          <a:prstGeom prst="line">
            <a:avLst/>
          </a:prstGeom>
          <a:ln w="22225">
            <a:solidFill>
              <a:srgbClr val="9EAD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89120" y="5486400"/>
            <a:ext cx="7452359" cy="1005840"/>
          </a:xfrm>
          <a:prstGeom prst="roundRect">
            <a:avLst>
              <a:gd name="adj" fmla="val 10000"/>
            </a:avLst>
          </a:prstGeom>
          <a:solidFill>
            <a:srgbClr val="F2F3F4"/>
          </a:solidFill>
          <a:ln w="19050">
            <a:solidFill>
              <a:srgbClr val="455A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/>
            <a:r>
              <a:rPr sz="1350" b="1">
                <a:solidFill>
                  <a:srgbClr val="1F2933"/>
                </a:solidFill>
                <a:latin typeface="Calibri"/>
              </a:rPr>
              <a:t>Why three methods, not one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5A6570"/>
                </a:solidFill>
                <a:latin typeface="Calibri"/>
              </a:rPr>
              <a:t>ADMIXTURE assumes K ancestral populations · PCA assumes the structure is linear · the trees assume neither. Agreement between them is worth more than any one of them alone.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510528"/>
            <a:ext cx="11375136" cy="12700"/>
          </a:xfrm>
          <a:prstGeom prst="rect">
            <a:avLst/>
          </a:prstGeom>
          <a:solidFill>
            <a:srgbClr val="C7C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601968"/>
            <a:ext cx="11375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6570"/>
                </a:solidFill>
                <a:latin typeface="Calibri"/>
              </a:rPr>
              <a:t>Nextflow on SLURM  ·  figures in Python (pandas / numpy / matplotlib)  ·  code and small results versioned in 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